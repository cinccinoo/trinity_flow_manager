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4" r:id="rId2"/>
    <p:sldId id="261" r:id="rId3"/>
    <p:sldId id="273" r:id="rId4"/>
    <p:sldId id="278" r:id="rId5"/>
    <p:sldId id="285" r:id="rId6"/>
    <p:sldId id="287" r:id="rId7"/>
    <p:sldId id="286" r:id="rId8"/>
    <p:sldId id="288" r:id="rId9"/>
    <p:sldId id="289" r:id="rId10"/>
    <p:sldId id="290" r:id="rId11"/>
    <p:sldId id="291" r:id="rId12"/>
    <p:sldId id="292" r:id="rId13"/>
    <p:sldId id="279" r:id="rId14"/>
    <p:sldId id="29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6E6E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5990" autoAdjust="0"/>
  </p:normalViewPr>
  <p:slideViewPr>
    <p:cSldViewPr snapToGrid="0">
      <p:cViewPr varScale="1">
        <p:scale>
          <a:sx n="105" d="100"/>
          <a:sy n="105" d="100"/>
        </p:scale>
        <p:origin x="12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FDF73-DEBA-48F7-A695-297A29345C5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56D42-BBE3-405B-B668-C8984E48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856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19CC9-975B-4857-A409-82147527763B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B2327-FC6D-4D02-BBAC-61FB358D1A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109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A7DE6-1DEB-4D4B-AE71-00A432198AFE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52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7B535-F141-40D4-B073-05E2BC537E5F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08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EEB9F-E059-433F-9542-859BA851E03D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1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2A3E-4DB8-442E-B790-3F901AD705DF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36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6E51-9AFC-4F09-8A26-0E6AB284CA65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31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60EF5-5690-42A8-A977-97B1D911701F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262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FD17D-A635-41F3-9D3E-837A24CD73EB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17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E06E5-97B7-4F0B-8519-0F1E066D27B9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38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46A7-89BB-41CD-B94C-CCE57B573237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43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64D-6168-4E8D-BD03-DA33274FBF88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18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2465-A21B-4C86-8BAD-F036EA801699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5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0D68A-6A1B-4690-8B84-9DC50EE481C3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F69E7-6384-4859-A7E2-88AD475201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92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261DCB-6E26-F8F1-F3AA-3FCB474CD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233" y="0"/>
            <a:ext cx="9743768" cy="6865133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r>
              <a:rPr lang="ko-KR" altLang="en-US" dirty="0"/>
              <a:t>정의서</a:t>
            </a:r>
          </a:p>
        </p:txBody>
      </p:sp>
      <p:sp>
        <p:nvSpPr>
          <p:cNvPr id="6" name="부제목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System Flow </a:t>
            </a:r>
            <a:r>
              <a:rPr lang="ko-KR" altLang="en-US" dirty="0"/>
              <a:t>관리화면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267221" y="6296986"/>
            <a:ext cx="1256779" cy="384033"/>
          </a:xfrm>
          <a:prstGeom prst="rect">
            <a:avLst/>
          </a:prstGeom>
        </p:spPr>
      </p:pic>
      <p:sp>
        <p:nvSpPr>
          <p:cNvPr id="11" name="부제목 5"/>
          <p:cNvSpPr txBox="1">
            <a:spLocks/>
          </p:cNvSpPr>
          <p:nvPr/>
        </p:nvSpPr>
        <p:spPr>
          <a:xfrm>
            <a:off x="8938727" y="5145578"/>
            <a:ext cx="3097763" cy="10130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400" dirty="0"/>
              <a:t>버전</a:t>
            </a:r>
            <a:r>
              <a:rPr lang="en-US" altLang="ko-KR" sz="1400" dirty="0"/>
              <a:t>: 0.5</a:t>
            </a:r>
          </a:p>
          <a:p>
            <a:pPr algn="r"/>
            <a:r>
              <a:rPr lang="ko-KR" altLang="en-US" sz="1400" dirty="0"/>
              <a:t>작성일</a:t>
            </a:r>
            <a:r>
              <a:rPr lang="en-US" altLang="ko-KR" sz="1400" dirty="0"/>
              <a:t>: 2025.01.14</a:t>
            </a:r>
          </a:p>
          <a:p>
            <a:pPr algn="r"/>
            <a:r>
              <a:rPr lang="ko-KR" altLang="en-US" sz="1400" dirty="0"/>
              <a:t>작성자</a:t>
            </a:r>
            <a:r>
              <a:rPr lang="en-US" altLang="ko-KR" sz="1400" dirty="0"/>
              <a:t>: </a:t>
            </a:r>
            <a:r>
              <a:rPr lang="ko-KR" altLang="en-US" sz="1400" dirty="0"/>
              <a:t>이서은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414559-559E-3EA0-12FE-ADBC4D7B7EFB}"/>
              </a:ext>
            </a:extLst>
          </p:cNvPr>
          <p:cNvSpPr txBox="1"/>
          <p:nvPr/>
        </p:nvSpPr>
        <p:spPr>
          <a:xfrm>
            <a:off x="2964426" y="6046839"/>
            <a:ext cx="2197509" cy="6341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321950-8367-C5CC-A98F-990CB9635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152" y="9077"/>
            <a:ext cx="12265152" cy="688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2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12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2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46753"/>
              </p:ext>
            </p:extLst>
          </p:nvPr>
        </p:nvGraphicFramePr>
        <p:xfrm>
          <a:off x="579186" y="1023787"/>
          <a:ext cx="11065415" cy="486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855">
                  <a:extLst>
                    <a:ext uri="{9D8B030D-6E8A-4147-A177-3AD203B41FA5}">
                      <a16:colId xmlns:a16="http://schemas.microsoft.com/office/drawing/2014/main" val="2377294130"/>
                    </a:ext>
                  </a:extLst>
                </a:gridCol>
                <a:gridCol w="1152855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7614592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4511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버전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작성일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설명</a:t>
                      </a:r>
                      <a:endParaRPr lang="ko-KR" altLang="en-US" sz="12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작성자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0.1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2025.12.23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System Flow </a:t>
                      </a:r>
                      <a:r>
                        <a:rPr lang="ko-KR" altLang="en-US" sz="1000" b="0" dirty="0"/>
                        <a:t>관리화면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메인</a:t>
                      </a:r>
                      <a:r>
                        <a:rPr lang="en-US" altLang="ko-KR" sz="1000" b="0" dirty="0"/>
                        <a:t>), </a:t>
                      </a:r>
                      <a:r>
                        <a:rPr lang="ko-KR" altLang="en-US" sz="1000" b="0" dirty="0"/>
                        <a:t>이관 팝업 설계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이서은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0.2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2025.12.30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저장여부 팝업 추가 및 설명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이서은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9278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0.3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2026.01.07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/>
                        <a:t>컬럼 수정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팝업 수정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저장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기존 이관버튼 삭제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이관버튼 새로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이서은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3944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0.4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2026.01.08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/>
                        <a:t>알림 팝업 추가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수정일자 변경기능 삭제</a:t>
                      </a:r>
                      <a:r>
                        <a:rPr lang="en-US" altLang="ko-KR" sz="1000" b="0" dirty="0"/>
                        <a:t> 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이서은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08693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0.5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2026.01.14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/>
                        <a:t>그리드 디자인 변경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이관 버튼 수정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운영모드에 </a:t>
                      </a:r>
                      <a:r>
                        <a:rPr lang="ko-KR" altLang="en-US" sz="1000" b="0" dirty="0" err="1"/>
                        <a:t>폴더명</a:t>
                      </a:r>
                      <a:r>
                        <a:rPr lang="ko-KR" altLang="en-US" sz="1000" b="0" dirty="0"/>
                        <a:t>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이서은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017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0.6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2026.02.13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/>
                        <a:t>디자인 </a:t>
                      </a:r>
                      <a:r>
                        <a:rPr lang="en-US" altLang="ko-KR" sz="1000" b="0" dirty="0"/>
                        <a:t>Claude </a:t>
                      </a:r>
                      <a:r>
                        <a:rPr lang="ko-KR" altLang="en-US" sz="1000" b="0" dirty="0"/>
                        <a:t>기반으로 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이서은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8234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0.7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2026.02.19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/>
                        <a:t>왼쪽 ↔ 오른쪽 이관에서 위 ↔ 아래 구조 디자인으로 변경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운영모드 </a:t>
                      </a:r>
                      <a:r>
                        <a:rPr lang="en-US" altLang="ko-KR" sz="1000" b="0" dirty="0"/>
                        <a:t>Endpoint </a:t>
                      </a:r>
                      <a:r>
                        <a:rPr lang="ko-KR" altLang="en-US" sz="1000" b="0" dirty="0"/>
                        <a:t>컬럼 강조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이서은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17256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0.8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2026.02.24</a:t>
                      </a:r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/>
                        <a:t>최종 디자인 채택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이서은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47088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9597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2329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564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093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8444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41279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1873" y="518640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문서 개정 이력</a:t>
            </a:r>
          </a:p>
        </p:txBody>
      </p:sp>
    </p:spTree>
    <p:extLst>
      <p:ext uri="{BB962C8B-B14F-4D97-AF65-F5344CB8AC3E}">
        <p14:creationId xmlns:p14="http://schemas.microsoft.com/office/powerpoint/2010/main" val="3543631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18BD98-6CE0-CECA-BBC7-C4842F095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07" y="1321507"/>
            <a:ext cx="9195125" cy="4393493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702656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SCR_LF_MGT_01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 err="1"/>
                        <a:t>메인화면</a:t>
                      </a:r>
                      <a:r>
                        <a:rPr lang="en-US" altLang="ko-KR" sz="1100" dirty="0"/>
                        <a:t>]</a:t>
                      </a:r>
                      <a:r>
                        <a:rPr lang="ko-KR" altLang="en-US" sz="1100" dirty="0"/>
                        <a:t> 화면 진입 및 기본 구성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3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/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/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2F10FF-5B28-7E79-0C9F-9C80EEAE4EE2}"/>
              </a:ext>
            </a:extLst>
          </p:cNvPr>
          <p:cNvSpPr/>
          <p:nvPr/>
        </p:nvSpPr>
        <p:spPr>
          <a:xfrm>
            <a:off x="155507" y="1537734"/>
            <a:ext cx="1362398" cy="172667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F069B4D3-601B-5A2C-323F-558750C48233}"/>
              </a:ext>
            </a:extLst>
          </p:cNvPr>
          <p:cNvSpPr txBox="1">
            <a:spLocks/>
          </p:cNvSpPr>
          <p:nvPr/>
        </p:nvSpPr>
        <p:spPr>
          <a:xfrm>
            <a:off x="9370243" y="1091685"/>
            <a:ext cx="2666248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ko-KR" altLang="en-US" sz="1100" dirty="0">
                <a:latin typeface="+mn-ea"/>
              </a:rPr>
              <a:t>폴더 트리</a:t>
            </a:r>
            <a:r>
              <a:rPr lang="en-US" altLang="ko-KR" sz="1100" dirty="0">
                <a:latin typeface="+mn-ea"/>
              </a:rPr>
              <a:t> - </a:t>
            </a:r>
            <a:r>
              <a:rPr lang="ko-KR" altLang="en-US" sz="1100" b="0" dirty="0"/>
              <a:t>사용자는 폴더 선택</a:t>
            </a:r>
            <a:r>
              <a:rPr lang="en-US" altLang="ko-KR" sz="1100" b="0" dirty="0"/>
              <a:t>(</a:t>
            </a:r>
            <a:r>
              <a:rPr lang="ko-KR" altLang="en-US" sz="1100" b="0" dirty="0"/>
              <a:t>더블클릭</a:t>
            </a:r>
            <a:r>
              <a:rPr lang="en-US" altLang="ko-KR" sz="1100" b="0" dirty="0"/>
              <a:t>)</a:t>
            </a:r>
            <a:r>
              <a:rPr lang="ko-KR" altLang="en-US" sz="1100" b="0" dirty="0"/>
              <a:t>을 통해 개발 모드 그리드의 조회 대상을 변경할 수 있다</a:t>
            </a:r>
            <a:r>
              <a:rPr lang="en-US" altLang="ko-KR" sz="1100" b="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 ② </a:t>
            </a:r>
            <a:r>
              <a:rPr lang="ko-KR" altLang="en-US" sz="1100" dirty="0"/>
              <a:t>검색 </a:t>
            </a:r>
            <a:r>
              <a:rPr lang="ko-KR" altLang="en-US" sz="1100" dirty="0" err="1"/>
              <a:t>입력창</a:t>
            </a:r>
            <a:r>
              <a:rPr lang="ko-KR" altLang="en-US" sz="1100" dirty="0"/>
              <a:t> </a:t>
            </a:r>
            <a:r>
              <a:rPr lang="en-US" altLang="ko-KR" sz="1100" b="0" dirty="0"/>
              <a:t>- </a:t>
            </a:r>
            <a:r>
              <a:rPr lang="ko-KR" altLang="en-US" sz="1100" b="0" dirty="0"/>
              <a:t> 선택된 폴더 하위 개발 모드와 </a:t>
            </a:r>
            <a:r>
              <a:rPr lang="en-US" altLang="ko-KR" sz="1100" b="0" dirty="0"/>
              <a:t> </a:t>
            </a:r>
            <a:r>
              <a:rPr lang="ko-KR" altLang="en-US" sz="1100" b="0" dirty="0"/>
              <a:t>전체 운영 모드 플로우 이름을 대상으로 검색한다</a:t>
            </a:r>
            <a:r>
              <a:rPr lang="en-US" altLang="ko-KR" sz="1100" b="0" dirty="0"/>
              <a:t>. Enter</a:t>
            </a:r>
            <a:r>
              <a:rPr lang="ko-KR" altLang="en-US" sz="1100" b="0" dirty="0"/>
              <a:t>를 입력하면</a:t>
            </a:r>
            <a:r>
              <a:rPr lang="en-US" altLang="ko-KR" sz="1100" b="0" dirty="0"/>
              <a:t>like </a:t>
            </a:r>
            <a:r>
              <a:rPr lang="ko-KR" altLang="en-US" sz="1100" b="0" dirty="0"/>
              <a:t>검색을 수행한다</a:t>
            </a:r>
            <a:r>
              <a:rPr lang="en-US" altLang="ko-KR" sz="1100" b="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 b="0" dirty="0">
                <a:latin typeface="+mn-ea"/>
              </a:rPr>
              <a:t> </a:t>
            </a:r>
            <a:r>
              <a:rPr lang="ko-KR" altLang="en-US" sz="1100" b="0" dirty="0">
                <a:latin typeface="+mn-ea"/>
              </a:rPr>
              <a:t>③ </a:t>
            </a:r>
            <a:r>
              <a:rPr lang="ko-KR" altLang="en-US" sz="1100" dirty="0"/>
              <a:t>개발 모드 </a:t>
            </a:r>
            <a:r>
              <a:rPr lang="en-US" altLang="ko-KR" sz="1100" b="0" dirty="0"/>
              <a:t>– </a:t>
            </a:r>
            <a:r>
              <a:rPr lang="ko-KR" altLang="en-US" sz="1100" b="0" dirty="0"/>
              <a:t>선택된 폴더 기준으로 개발중인 플로우 목록이 조회되며 목록 컬럼은 이름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설명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생성자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생성일자</a:t>
            </a:r>
            <a:r>
              <a:rPr lang="en-US" altLang="ko-KR" sz="1100" b="0" dirty="0"/>
              <a:t>/</a:t>
            </a:r>
            <a:r>
              <a:rPr lang="ko-KR" altLang="en-US" sz="1100" b="0" dirty="0" err="1"/>
              <a:t>수정자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수정일자로 구성된다</a:t>
            </a:r>
            <a:r>
              <a:rPr lang="en-US" altLang="ko-KR" sz="1100" b="0" dirty="0"/>
              <a:t>.</a:t>
            </a:r>
          </a:p>
          <a:p>
            <a:pPr marL="72000">
              <a:lnSpc>
                <a:spcPct val="150000"/>
              </a:lnSpc>
            </a:pPr>
            <a:r>
              <a:rPr lang="ko-KR" altLang="en-US" sz="1100" b="0" dirty="0"/>
              <a:t>④</a:t>
            </a:r>
            <a:r>
              <a:rPr lang="ko-KR" altLang="en-US" sz="1100" b="0" dirty="0">
                <a:latin typeface="+mn-ea"/>
              </a:rPr>
              <a:t> </a:t>
            </a:r>
            <a:r>
              <a:rPr lang="ko-KR" altLang="en-US" sz="1100" dirty="0"/>
              <a:t>운영 모드 </a:t>
            </a:r>
            <a:r>
              <a:rPr lang="en-US" altLang="ko-KR" sz="1100" b="0" dirty="0"/>
              <a:t>-</a:t>
            </a:r>
            <a:r>
              <a:rPr lang="ko-KR" altLang="en-US" sz="1100" b="0" dirty="0"/>
              <a:t>  전체 배포 가능한 플로우 목록이 조회되며 목록 컬럼은 </a:t>
            </a:r>
            <a:r>
              <a:rPr lang="ko-KR" altLang="en-US" sz="1100" b="0" dirty="0" err="1"/>
              <a:t>폴더명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이름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설명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생성자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생성일자</a:t>
            </a:r>
            <a:r>
              <a:rPr lang="en-US" altLang="ko-KR" sz="1100" b="0" dirty="0"/>
              <a:t>/</a:t>
            </a:r>
            <a:r>
              <a:rPr lang="ko-KR" altLang="en-US" sz="1100" b="0" dirty="0" err="1"/>
              <a:t>수정자</a:t>
            </a:r>
            <a:r>
              <a:rPr lang="en-US" altLang="ko-KR" sz="1100" b="0" dirty="0"/>
              <a:t>/</a:t>
            </a:r>
            <a:r>
              <a:rPr lang="ko-KR" altLang="en-US" sz="1100" b="0" dirty="0"/>
              <a:t>수정일자</a:t>
            </a:r>
            <a:r>
              <a:rPr lang="en-US" altLang="ko-KR" sz="1100" b="0" dirty="0"/>
              <a:t> </a:t>
            </a:r>
            <a:r>
              <a:rPr lang="ko-KR" altLang="en-US" sz="1100" b="0" dirty="0"/>
              <a:t>로 구성된다</a:t>
            </a:r>
            <a:r>
              <a:rPr lang="en-US" altLang="ko-KR" sz="1100" b="0" dirty="0"/>
              <a:t>.</a:t>
            </a:r>
          </a:p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1195BD1-65B9-0802-A906-D20A4EA2A21A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621EB6-FB4E-B7F7-F2AC-0DD1011FD985}"/>
              </a:ext>
            </a:extLst>
          </p:cNvPr>
          <p:cNvSpPr txBox="1"/>
          <p:nvPr/>
        </p:nvSpPr>
        <p:spPr>
          <a:xfrm>
            <a:off x="-144944" y="1168402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7534F5-8197-C09F-70D2-5DDB1765051F}"/>
              </a:ext>
            </a:extLst>
          </p:cNvPr>
          <p:cNvSpPr txBox="1"/>
          <p:nvPr/>
        </p:nvSpPr>
        <p:spPr>
          <a:xfrm>
            <a:off x="7700940" y="1616266"/>
            <a:ext cx="37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F896B9-1B91-B03E-C6A7-0BA444A6012A}"/>
              </a:ext>
            </a:extLst>
          </p:cNvPr>
          <p:cNvSpPr txBox="1"/>
          <p:nvPr/>
        </p:nvSpPr>
        <p:spPr>
          <a:xfrm>
            <a:off x="1435162" y="1738466"/>
            <a:ext cx="37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③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5F5CE4-7EDC-EA36-AA5D-5BCBF394165E}"/>
              </a:ext>
            </a:extLst>
          </p:cNvPr>
          <p:cNvSpPr txBox="1"/>
          <p:nvPr/>
        </p:nvSpPr>
        <p:spPr>
          <a:xfrm>
            <a:off x="1435162" y="3793467"/>
            <a:ext cx="440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510ADB-B501-8DF8-7935-C5E2791F5662}"/>
              </a:ext>
            </a:extLst>
          </p:cNvPr>
          <p:cNvSpPr txBox="1"/>
          <p:nvPr/>
        </p:nvSpPr>
        <p:spPr>
          <a:xfrm>
            <a:off x="7700939" y="3665633"/>
            <a:ext cx="37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243100-2855-C5FC-97BB-70FCE186EB61}"/>
              </a:ext>
            </a:extLst>
          </p:cNvPr>
          <p:cNvSpPr/>
          <p:nvPr/>
        </p:nvSpPr>
        <p:spPr>
          <a:xfrm>
            <a:off x="1576353" y="1496033"/>
            <a:ext cx="718791" cy="12023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500A0E5-6281-6AD7-B458-82438DE5117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517905" y="1616266"/>
            <a:ext cx="417844" cy="923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1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6207-8511-9211-F6E4-41A98904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7B1B60-BFF3-E891-59F9-50FC292FB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2" y="1366538"/>
            <a:ext cx="9219991" cy="4419421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8B60178-BF15-7BC5-4884-6E394EC5D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289235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SCR_LF_MGT_02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선택된 항목이 없을 때의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E9D611-DF03-1715-F71F-EE431DAC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4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198D1517-FF7D-9922-B45B-2E7492A56167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6D887-7F98-006F-6985-A31A9427780E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F8C910A-8A3E-4BDF-0A78-683351BD51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15579EEC-4360-80CB-E102-97CA1E4596FF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ko-KR" altLang="en-US" sz="1100" dirty="0">
                <a:latin typeface="+mn-ea"/>
              </a:rPr>
              <a:t>알림 메시지 </a:t>
            </a:r>
            <a:r>
              <a:rPr lang="en-US" altLang="ko-KR" sz="1100" b="0" dirty="0">
                <a:latin typeface="+mn-ea"/>
              </a:rPr>
              <a:t>– [</a:t>
            </a:r>
            <a:r>
              <a:rPr lang="ko-KR" altLang="en-US" sz="1100" b="0" dirty="0">
                <a:latin typeface="+mn-ea"/>
              </a:rPr>
              <a:t>운영모드로 이관</a:t>
            </a:r>
            <a:r>
              <a:rPr lang="en-US" altLang="ko-KR" sz="1100" b="0" dirty="0">
                <a:latin typeface="+mn-ea"/>
              </a:rPr>
              <a:t>]</a:t>
            </a:r>
            <a:r>
              <a:rPr lang="ko-KR" altLang="en-US" sz="1100" b="0" dirty="0">
                <a:latin typeface="+mn-ea"/>
              </a:rPr>
              <a:t> 버튼을 눌렀지만</a:t>
            </a:r>
            <a:r>
              <a:rPr lang="en-US" altLang="ko-KR" sz="1100" b="0" dirty="0">
                <a:latin typeface="+mn-ea"/>
              </a:rPr>
              <a:t>, </a:t>
            </a:r>
            <a:r>
              <a:rPr lang="ko-KR" altLang="en-US" sz="1100" b="0" dirty="0">
                <a:latin typeface="+mn-ea"/>
              </a:rPr>
              <a:t>선택된 항목이 없을 경우</a:t>
            </a:r>
            <a:r>
              <a:rPr lang="en-US" altLang="ko-KR" sz="1100" b="0" dirty="0">
                <a:latin typeface="+mn-ea"/>
              </a:rPr>
              <a:t> </a:t>
            </a:r>
            <a:r>
              <a:rPr lang="ko-KR" altLang="en-US" sz="1100" b="0" dirty="0">
                <a:latin typeface="+mn-ea"/>
              </a:rPr>
              <a:t>발생한다</a:t>
            </a:r>
            <a:r>
              <a:rPr lang="en-US" altLang="ko-KR" sz="1100" b="0" dirty="0">
                <a:latin typeface="+mn-ea"/>
              </a:rPr>
              <a:t>.</a:t>
            </a: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DC77ED-4CBF-FFFE-3C47-5AF729A83A27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C8BD95-3AAE-1372-C882-F34A4DA7853B}"/>
              </a:ext>
            </a:extLst>
          </p:cNvPr>
          <p:cNvSpPr txBox="1"/>
          <p:nvPr/>
        </p:nvSpPr>
        <p:spPr>
          <a:xfrm>
            <a:off x="3493320" y="5010348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7FFECEE-CA87-B766-4F2A-220CB88A665C}"/>
              </a:ext>
            </a:extLst>
          </p:cNvPr>
          <p:cNvSpPr/>
          <p:nvPr/>
        </p:nvSpPr>
        <p:spPr>
          <a:xfrm>
            <a:off x="4438514" y="3575305"/>
            <a:ext cx="938158" cy="32918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6BDAC0E-6AEC-4809-9491-1F0C8435CA38}"/>
              </a:ext>
            </a:extLst>
          </p:cNvPr>
          <p:cNvCxnSpPr>
            <a:cxnSpLocks/>
            <a:stCxn id="33" idx="2"/>
            <a:endCxn id="25" idx="0"/>
          </p:cNvCxnSpPr>
          <p:nvPr/>
        </p:nvCxnSpPr>
        <p:spPr>
          <a:xfrm flipH="1">
            <a:off x="4768758" y="3904489"/>
            <a:ext cx="138835" cy="13533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0432DB-762E-7EE6-21D4-C2554198F6F2}"/>
              </a:ext>
            </a:extLst>
          </p:cNvPr>
          <p:cNvSpPr/>
          <p:nvPr/>
        </p:nvSpPr>
        <p:spPr>
          <a:xfrm>
            <a:off x="3831659" y="5257800"/>
            <a:ext cx="1874198" cy="44805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2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A2FB6-DF99-CB9C-F3D6-B8C9118E0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B207B1-DD78-92A6-0B67-53D12C016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" y="1335764"/>
            <a:ext cx="9219991" cy="4405588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A1E6F3C-70A9-07C2-6ED3-8762A3D98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438335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SCR_LF_MGT_03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개발모드 → 운영모드 이관 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7503B8-CB55-90DC-1B87-3F44FB17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5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5C2DD35F-97D7-98E4-BEE7-F3B4D8AA2E0F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F96882-6059-8CFA-23D8-2A9A5EAB322D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65A45CF-A8F8-C72F-BBC6-CDE8F67F67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8FC14FE7-19CB-D9B1-C6EE-F0DCD47270D9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운영모드로 이관할 플로우를 선택한다</a:t>
            </a:r>
            <a:r>
              <a:rPr lang="en-US" altLang="ko-KR" sz="1100" b="0" dirty="0">
                <a:latin typeface="+mn-ea"/>
              </a:rPr>
              <a:t>. </a:t>
            </a:r>
            <a:r>
              <a:rPr lang="ko-KR" altLang="en-US" sz="1100" b="0" dirty="0">
                <a:latin typeface="+mn-ea"/>
              </a:rPr>
              <a:t>선택한 플로우는 파란색으로 변한다</a:t>
            </a:r>
            <a:r>
              <a:rPr lang="en-US" altLang="ko-KR" sz="1100" b="0" dirty="0">
                <a:latin typeface="+mn-ea"/>
              </a:rPr>
              <a:t>.</a:t>
            </a: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②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[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운영모드로 이관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]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버튼을 누른다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</a:t>
            </a: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  <a:p>
            <a:pPr marL="72000"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36E5FD-6BB5-3265-DBE7-FEE361D8344F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23755-BC57-95C4-FBD5-1099345F566A}"/>
              </a:ext>
            </a:extLst>
          </p:cNvPr>
          <p:cNvSpPr txBox="1"/>
          <p:nvPr/>
        </p:nvSpPr>
        <p:spPr>
          <a:xfrm>
            <a:off x="1310138" y="2227197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3D00B9-8F86-8EC7-EC1E-AF9001168487}"/>
              </a:ext>
            </a:extLst>
          </p:cNvPr>
          <p:cNvSpPr/>
          <p:nvPr/>
        </p:nvSpPr>
        <p:spPr>
          <a:xfrm>
            <a:off x="1619017" y="2572265"/>
            <a:ext cx="7607279" cy="38722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D30D972-9791-6C42-0AB5-79468B70727C}"/>
              </a:ext>
            </a:extLst>
          </p:cNvPr>
          <p:cNvSpPr/>
          <p:nvPr/>
        </p:nvSpPr>
        <p:spPr>
          <a:xfrm>
            <a:off x="4423138" y="3586396"/>
            <a:ext cx="962678" cy="29407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02E64CC-285E-17B3-020F-144E504A4630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4904477" y="2954239"/>
            <a:ext cx="314108" cy="6321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562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A42F6-148C-7C41-05BC-D00C7D4D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DA1336-AA2B-36D5-EDBE-E91C636B6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" y="1382043"/>
            <a:ext cx="9232602" cy="4402205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9EF7E2F-A884-161A-719E-BB5D2300A1E9}"/>
              </a:ext>
            </a:extLst>
          </p:cNvPr>
          <p:cNvGraphicFramePr>
            <a:graphicFrameLocks noGrp="1"/>
          </p:cNvGraphicFramePr>
          <p:nvPr/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SCR_LF_MGT_04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개발모드 → 운영모드 이관 팝업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793B80-E382-85B3-2F04-2DEFB188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6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D5A185FF-9C15-751C-4AD3-32A96D7C7770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03BB93-B41C-5ABC-A480-DD23BDDCC237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B6F0B70-A742-2A1A-F850-8EB805857B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13035DA3-B21C-589E-6056-88AE41100E94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이미 사용중인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Endpoint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명을 입력하면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경고메시지가 뜨고 이관 실행이 안 됩니다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</a:t>
            </a: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② </a:t>
            </a:r>
            <a:r>
              <a:rPr lang="en-US" altLang="ko-KR" sz="1100" dirty="0">
                <a:highlight>
                  <a:srgbClr val="FFFFFF"/>
                </a:highlight>
                <a:latin typeface="+mn-ea"/>
              </a:rPr>
              <a:t>[</a:t>
            </a:r>
            <a:r>
              <a:rPr lang="ko-KR" altLang="en-US" sz="1100" dirty="0">
                <a:highlight>
                  <a:srgbClr val="FFFFFF"/>
                </a:highlight>
                <a:latin typeface="+mn-ea"/>
              </a:rPr>
              <a:t>취소</a:t>
            </a:r>
            <a:r>
              <a:rPr lang="en-US" altLang="ko-KR" sz="1100" dirty="0">
                <a:highlight>
                  <a:srgbClr val="FFFFFF"/>
                </a:highlight>
                <a:latin typeface="+mn-ea"/>
              </a:rPr>
              <a:t>] </a:t>
            </a:r>
            <a:r>
              <a:rPr lang="ko-KR" altLang="en-US" sz="1100" dirty="0">
                <a:highlight>
                  <a:srgbClr val="FFFFFF"/>
                </a:highlight>
                <a:latin typeface="+mn-ea"/>
              </a:rPr>
              <a:t>버튼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–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팝업이 닫히고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변경 사항이 저장되지 않습니다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</a:t>
            </a: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③ </a:t>
            </a:r>
            <a:r>
              <a:rPr lang="en-US" altLang="ko-KR" sz="1100" dirty="0">
                <a:latin typeface="+mn-ea"/>
              </a:rPr>
              <a:t>[</a:t>
            </a:r>
            <a:r>
              <a:rPr lang="ko-KR" altLang="en-US" sz="1100" dirty="0">
                <a:latin typeface="+mn-ea"/>
              </a:rPr>
              <a:t>이관 실행</a:t>
            </a:r>
            <a:r>
              <a:rPr lang="en-US" altLang="ko-KR" sz="1100" dirty="0">
                <a:latin typeface="+mn-ea"/>
              </a:rPr>
              <a:t>] </a:t>
            </a:r>
            <a:r>
              <a:rPr lang="ko-KR" altLang="en-US" sz="1100" dirty="0">
                <a:latin typeface="+mn-ea"/>
              </a:rPr>
              <a:t>버튼 </a:t>
            </a:r>
            <a:r>
              <a:rPr lang="en-US" altLang="ko-KR" sz="1100" b="0" dirty="0">
                <a:latin typeface="+mn-ea"/>
              </a:rPr>
              <a:t>– </a:t>
            </a:r>
            <a:r>
              <a:rPr lang="ko-KR" altLang="en-US" sz="1100" b="0" dirty="0">
                <a:latin typeface="+mn-ea"/>
              </a:rPr>
              <a:t>이관이 실행되며 변경 사항이 저장됩니다</a:t>
            </a:r>
            <a:r>
              <a:rPr lang="en-US" altLang="ko-KR" sz="1100" b="0" dirty="0">
                <a:latin typeface="+mn-ea"/>
              </a:rPr>
              <a:t>.</a:t>
            </a:r>
            <a:endParaRPr lang="en-US" altLang="ko-KR" sz="1100" b="0" dirty="0">
              <a:highlight>
                <a:srgbClr val="FFFFFF"/>
              </a:highlight>
              <a:latin typeface="+mn-ea"/>
            </a:endParaRPr>
          </a:p>
          <a:p>
            <a:pPr marL="72000"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  <a:p>
            <a:pPr marL="72000"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F8772B1-D7E4-AB87-901D-5DEE074BB0F2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B90B39-3424-0042-3EA9-3B9B8B6FE322}"/>
              </a:ext>
            </a:extLst>
          </p:cNvPr>
          <p:cNvSpPr txBox="1"/>
          <p:nvPr/>
        </p:nvSpPr>
        <p:spPr>
          <a:xfrm>
            <a:off x="3257811" y="3398010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5C3C93-9998-C20C-7743-CC969B22AB80}"/>
              </a:ext>
            </a:extLst>
          </p:cNvPr>
          <p:cNvSpPr/>
          <p:nvPr/>
        </p:nvSpPr>
        <p:spPr>
          <a:xfrm>
            <a:off x="3616613" y="3666745"/>
            <a:ext cx="2217870" cy="27431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38BED-9C9F-5881-AB99-6D6D6FD9F199}"/>
              </a:ext>
            </a:extLst>
          </p:cNvPr>
          <p:cNvSpPr txBox="1"/>
          <p:nvPr/>
        </p:nvSpPr>
        <p:spPr>
          <a:xfrm>
            <a:off x="4594138" y="3941064"/>
            <a:ext cx="37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1D6F8-A7CD-A110-3565-41460E1D4D2E}"/>
              </a:ext>
            </a:extLst>
          </p:cNvPr>
          <p:cNvSpPr txBox="1"/>
          <p:nvPr/>
        </p:nvSpPr>
        <p:spPr>
          <a:xfrm>
            <a:off x="5083618" y="3941064"/>
            <a:ext cx="37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③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45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E3DB9-2842-E2D0-39B2-BA15C2EC3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3B4F192-147B-20F4-D1A2-297B66B3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" y="1391425"/>
            <a:ext cx="9232358" cy="4409197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B78EDA7-EEB0-F391-1DB5-2BEDAD292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60115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SCR_LF_MGT_05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개발모드 → 운영모드 이관 팝업 </a:t>
                      </a:r>
                      <a:r>
                        <a:rPr lang="en-US" altLang="ko-KR" sz="1100" dirty="0"/>
                        <a:t>– </a:t>
                      </a:r>
                      <a:r>
                        <a:rPr lang="ko-KR" altLang="en-US" sz="1100" dirty="0"/>
                        <a:t>중복된 </a:t>
                      </a:r>
                      <a:r>
                        <a:rPr lang="en-US" altLang="ko-KR" sz="1100" dirty="0"/>
                        <a:t>Endpoint</a:t>
                      </a:r>
                      <a:endParaRPr lang="ko-KR" alt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60C59B-10FC-CCB7-B394-80AEC6F5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7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CA80727E-C247-842F-3E86-DE97C5903C88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4437F-C8B2-8334-F4A1-5BD74D7AC6A2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5E3E42A-6E9D-AA39-BA79-8525BACD0A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8DBD978A-0BA3-638B-7AF6-11D5B7E5979F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이미 사용중인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Endpoint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명을 입력하면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경고메시지가 뜨고 이관 실행이 안 됩니다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</a:t>
            </a: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  <a:p>
            <a:pPr marL="72000"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A90CD3F-8AE6-1A25-953A-824D1630D350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00D63-3E02-2B71-D557-2DD2DD924B42}"/>
              </a:ext>
            </a:extLst>
          </p:cNvPr>
          <p:cNvSpPr txBox="1"/>
          <p:nvPr/>
        </p:nvSpPr>
        <p:spPr>
          <a:xfrm>
            <a:off x="3257811" y="3635752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B98C84-A2CF-22FB-4154-67C1476689FF}"/>
              </a:ext>
            </a:extLst>
          </p:cNvPr>
          <p:cNvSpPr/>
          <p:nvPr/>
        </p:nvSpPr>
        <p:spPr>
          <a:xfrm>
            <a:off x="3604245" y="3883204"/>
            <a:ext cx="1068340" cy="19674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92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F34A8-E478-22A2-4AD3-A3CD9941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96FD39-BD5B-57A0-B7A1-FA20FF50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09" y="1395296"/>
            <a:ext cx="9246373" cy="4420288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F197A7-463E-852C-D575-F5CFC63D0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178321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SCR_LF_MGT_06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개발모드 → 운영모드 이관 팝업 </a:t>
                      </a:r>
                      <a:r>
                        <a:rPr lang="en-US" altLang="ko-KR" sz="1100" dirty="0"/>
                        <a:t>– </a:t>
                      </a:r>
                      <a:r>
                        <a:rPr lang="ko-KR" altLang="en-US" sz="1100" dirty="0"/>
                        <a:t>빈</a:t>
                      </a:r>
                      <a:r>
                        <a:rPr lang="en-US" altLang="ko-KR" sz="1100" dirty="0"/>
                        <a:t> Endpoint </a:t>
                      </a:r>
                      <a:endParaRPr lang="ko-KR" alt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1A28B1-DCB9-A0D0-AAE2-390947CE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8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273BEFDA-92D9-E69D-B1C1-B0D846155A42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5DB500-AC95-C094-EDA9-D2EC441107C6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59AC663-BC8F-7169-1218-9CE82F97D8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94B38176-7C68-C0CA-0F7D-2C1C7C8509FA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Endpoint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지정을 하지 않고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[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이관 실행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]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버튼을 누르면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경고 메시지가 출력되고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이관 실행이 안 됩니다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</a:t>
            </a: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  <a:p>
            <a:pPr marL="72000"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EDD664-E71D-44D1-5406-3991EEE59E36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EF1495-A390-2574-4D60-E717B4BA9793}"/>
              </a:ext>
            </a:extLst>
          </p:cNvPr>
          <p:cNvSpPr txBox="1"/>
          <p:nvPr/>
        </p:nvSpPr>
        <p:spPr>
          <a:xfrm>
            <a:off x="3257811" y="3635752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4EC8EE-C7D1-058A-251A-4F9A82278E72}"/>
              </a:ext>
            </a:extLst>
          </p:cNvPr>
          <p:cNvSpPr/>
          <p:nvPr/>
        </p:nvSpPr>
        <p:spPr>
          <a:xfrm>
            <a:off x="3604245" y="3883204"/>
            <a:ext cx="1068340" cy="19674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2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3702-9600-CB4D-3CFA-FE5ED589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198904E-DE04-A622-5D2F-645DE7590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" y="1324807"/>
            <a:ext cx="9213633" cy="4426769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CB4E5EB-60F5-0851-F0E8-73166CC07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553621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SCR_LF_MGT_07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개발모드 → 운영모드 이관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E7D27B-77BE-6A23-2518-69141532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9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78220375-BD33-BD65-F193-E7823D3F1FDA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C411CF-10F7-D2A5-E321-287361702E30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08E7432-3970-EA2C-877D-33DC0F9837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9D7D8489-4CC2-BD06-5969-B00BB7991407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올바른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Endpoint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를 지정한 후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[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이관 실행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]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버튼을 누르면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운영모드로 이관된다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이관된 개발모드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Flow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는 텍스트가 회색으로 변경되며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 err="1">
                <a:highlight>
                  <a:srgbClr val="FFFFFF"/>
                </a:highlight>
                <a:latin typeface="+mn-ea"/>
              </a:rPr>
              <a:t>운영중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sz="1100" b="0" dirty="0" err="1">
                <a:highlight>
                  <a:srgbClr val="FFFFFF"/>
                </a:highlight>
                <a:latin typeface="+mn-ea"/>
              </a:rPr>
              <a:t>뱃지가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 표시된다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</a:t>
            </a:r>
          </a:p>
          <a:p>
            <a:pPr marL="72000"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2E8EF46-3F83-9CB0-E851-24821DDA52E9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DA1194-296A-E0E9-DEF3-06C6BD8EF5CD}"/>
              </a:ext>
            </a:extLst>
          </p:cNvPr>
          <p:cNvSpPr txBox="1"/>
          <p:nvPr/>
        </p:nvSpPr>
        <p:spPr>
          <a:xfrm>
            <a:off x="5072138" y="3538191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E8B655-06D6-C806-EDAE-9EC57486E1B3}"/>
              </a:ext>
            </a:extLst>
          </p:cNvPr>
          <p:cNvSpPr/>
          <p:nvPr/>
        </p:nvSpPr>
        <p:spPr>
          <a:xfrm>
            <a:off x="1601708" y="4660444"/>
            <a:ext cx="7633731" cy="29560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09B33B-05EF-D768-C7FA-A5ED3EC4D5CE}"/>
              </a:ext>
            </a:extLst>
          </p:cNvPr>
          <p:cNvSpPr/>
          <p:nvPr/>
        </p:nvSpPr>
        <p:spPr>
          <a:xfrm>
            <a:off x="1601707" y="2636572"/>
            <a:ext cx="7633731" cy="29560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8964905-75D6-E2DE-9B8C-3185CE4026A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418573" y="2932176"/>
            <a:ext cx="0" cy="1728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7D22DF-9003-FD3B-E2AC-EC23797350ED}"/>
              </a:ext>
            </a:extLst>
          </p:cNvPr>
          <p:cNvSpPr/>
          <p:nvPr/>
        </p:nvSpPr>
        <p:spPr>
          <a:xfrm>
            <a:off x="3882967" y="5289914"/>
            <a:ext cx="1694873" cy="29560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1EC147-AFCD-BD24-FDE9-DCF42D4E6CE4}"/>
              </a:ext>
            </a:extLst>
          </p:cNvPr>
          <p:cNvSpPr txBox="1"/>
          <p:nvPr/>
        </p:nvSpPr>
        <p:spPr>
          <a:xfrm>
            <a:off x="3508251" y="5062913"/>
            <a:ext cx="37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361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7328-8F0B-754D-1530-A855A62E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B66DF08-D219-F637-96BD-443A99B56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" y="1329428"/>
            <a:ext cx="9232358" cy="4404163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0B4F553-4179-4190-2F45-DF3F65D25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069411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SCR_LF_MGT_08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선택된 항목이 없을 때의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02E912-01E0-4868-9BB0-67FF2E3C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10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FA37ADBB-F239-E3CB-9E03-E4095BE7FD65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E51813-7028-4142-86C7-293B7ABDC3E2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513F3EA-996E-BA1D-2F1B-7C86E45A5B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3C561692-D8B5-AE41-BA23-8EF870A4B11E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ko-KR" altLang="en-US" sz="1100" dirty="0">
                <a:latin typeface="+mn-ea"/>
              </a:rPr>
              <a:t>알림 메시지 </a:t>
            </a:r>
            <a:r>
              <a:rPr lang="en-US" altLang="ko-KR" sz="1100" b="0" dirty="0">
                <a:latin typeface="+mn-ea"/>
              </a:rPr>
              <a:t>– [</a:t>
            </a:r>
            <a:r>
              <a:rPr lang="ko-KR" altLang="en-US" sz="1100" b="0" dirty="0">
                <a:latin typeface="+mn-ea"/>
              </a:rPr>
              <a:t>개발모드로 이관</a:t>
            </a:r>
            <a:r>
              <a:rPr lang="en-US" altLang="ko-KR" sz="1100" b="0" dirty="0">
                <a:latin typeface="+mn-ea"/>
              </a:rPr>
              <a:t>]</a:t>
            </a:r>
            <a:r>
              <a:rPr lang="ko-KR" altLang="en-US" sz="1100" b="0" dirty="0">
                <a:latin typeface="+mn-ea"/>
              </a:rPr>
              <a:t> 버튼을 눌렀지만</a:t>
            </a:r>
            <a:r>
              <a:rPr lang="en-US" altLang="ko-KR" sz="1100" b="0" dirty="0">
                <a:latin typeface="+mn-ea"/>
              </a:rPr>
              <a:t>, </a:t>
            </a:r>
            <a:r>
              <a:rPr lang="ko-KR" altLang="en-US" sz="1100" b="0" dirty="0">
                <a:latin typeface="+mn-ea"/>
              </a:rPr>
              <a:t>선택된 항목이 없을 경우</a:t>
            </a:r>
            <a:r>
              <a:rPr lang="en-US" altLang="ko-KR" sz="1100" b="0" dirty="0">
                <a:latin typeface="+mn-ea"/>
              </a:rPr>
              <a:t> </a:t>
            </a:r>
            <a:r>
              <a:rPr lang="ko-KR" altLang="en-US" sz="1100" b="0" dirty="0">
                <a:latin typeface="+mn-ea"/>
              </a:rPr>
              <a:t>발생한다</a:t>
            </a:r>
            <a:r>
              <a:rPr lang="en-US" altLang="ko-KR" sz="1100" b="0" dirty="0">
                <a:latin typeface="+mn-ea"/>
              </a:rPr>
              <a:t>.</a:t>
            </a: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F4F5BB3-5568-6A1C-023E-7468EC97EB54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20533A-AB88-B16C-17DD-068F6DCF1736}"/>
              </a:ext>
            </a:extLst>
          </p:cNvPr>
          <p:cNvSpPr txBox="1"/>
          <p:nvPr/>
        </p:nvSpPr>
        <p:spPr>
          <a:xfrm>
            <a:off x="3485225" y="4954262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79B925-D2A6-AD1B-C2AA-309415DB6C15}"/>
              </a:ext>
            </a:extLst>
          </p:cNvPr>
          <p:cNvSpPr/>
          <p:nvPr/>
        </p:nvSpPr>
        <p:spPr>
          <a:xfrm>
            <a:off x="5497140" y="3546570"/>
            <a:ext cx="938158" cy="32918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50DE646-7E33-5221-D774-EC4029504240}"/>
              </a:ext>
            </a:extLst>
          </p:cNvPr>
          <p:cNvCxnSpPr>
            <a:cxnSpLocks/>
            <a:stCxn id="33" idx="2"/>
            <a:endCxn id="25" idx="0"/>
          </p:cNvCxnSpPr>
          <p:nvPr/>
        </p:nvCxnSpPr>
        <p:spPr>
          <a:xfrm flipH="1">
            <a:off x="4768758" y="3875754"/>
            <a:ext cx="1197461" cy="13820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F9FFD96-9E52-F5DE-C671-38E5BB610371}"/>
              </a:ext>
            </a:extLst>
          </p:cNvPr>
          <p:cNvSpPr/>
          <p:nvPr/>
        </p:nvSpPr>
        <p:spPr>
          <a:xfrm>
            <a:off x="3831659" y="5257800"/>
            <a:ext cx="1874198" cy="44805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847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3D76-0735-32F7-9B65-35DDE9F7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19FC7B5-31BA-98CA-4FAC-C6453642B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" y="1362689"/>
            <a:ext cx="9236168" cy="4425463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7CABC73-67ED-15E0-1ADD-189C655E3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136512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SCR_LF_MGT_09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개발모드 → 운영모드 이관 팝업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FBE789-1CDB-9A44-350B-F550BB11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11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8F6C1C9C-5E9F-37CA-BED5-564746E03B60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2409E-73BB-F6E7-9E37-EC54819D15EE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0FC6124-CB2D-0827-0119-5BB1E9CB1B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9D705380-765D-7FBE-3312-F3A2C080A9DB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en-US" altLang="ko-KR" sz="1100" dirty="0">
                <a:highlight>
                  <a:srgbClr val="FFFFFF"/>
                </a:highlight>
                <a:latin typeface="+mn-ea"/>
              </a:rPr>
              <a:t>[</a:t>
            </a:r>
            <a:r>
              <a:rPr lang="ko-KR" altLang="en-US" sz="1100" dirty="0">
                <a:highlight>
                  <a:srgbClr val="FFFFFF"/>
                </a:highlight>
                <a:latin typeface="+mn-ea"/>
              </a:rPr>
              <a:t>취소</a:t>
            </a:r>
            <a:r>
              <a:rPr lang="en-US" altLang="ko-KR" sz="1100" dirty="0">
                <a:highlight>
                  <a:srgbClr val="FFFFFF"/>
                </a:highlight>
                <a:latin typeface="+mn-ea"/>
              </a:rPr>
              <a:t>] </a:t>
            </a:r>
            <a:r>
              <a:rPr lang="ko-KR" altLang="en-US" sz="1100" dirty="0">
                <a:highlight>
                  <a:srgbClr val="FFFFFF"/>
                </a:highlight>
                <a:latin typeface="+mn-ea"/>
              </a:rPr>
              <a:t>버튼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–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팝업이 닫히고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변경 사항이 저장되지 않습니다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</a:t>
            </a: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②</a:t>
            </a:r>
            <a:r>
              <a:rPr lang="ko-KR" altLang="en-US" sz="1100" b="0" dirty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[</a:t>
            </a:r>
            <a:r>
              <a:rPr lang="ko-KR" altLang="en-US" sz="1100" dirty="0">
                <a:latin typeface="+mn-ea"/>
              </a:rPr>
              <a:t>이관 실행</a:t>
            </a:r>
            <a:r>
              <a:rPr lang="en-US" altLang="ko-KR" sz="1100" dirty="0">
                <a:latin typeface="+mn-ea"/>
              </a:rPr>
              <a:t>] </a:t>
            </a:r>
            <a:r>
              <a:rPr lang="ko-KR" altLang="en-US" sz="1100" dirty="0">
                <a:latin typeface="+mn-ea"/>
              </a:rPr>
              <a:t>버튼 </a:t>
            </a:r>
            <a:r>
              <a:rPr lang="en-US" altLang="ko-KR" sz="1100" b="0" dirty="0">
                <a:latin typeface="+mn-ea"/>
              </a:rPr>
              <a:t>– </a:t>
            </a:r>
            <a:r>
              <a:rPr lang="ko-KR" altLang="en-US" sz="1100" b="0" dirty="0">
                <a:latin typeface="+mn-ea"/>
              </a:rPr>
              <a:t>이관이 실행되며 변경 사항이 저장됩니다</a:t>
            </a:r>
            <a:r>
              <a:rPr lang="en-US" altLang="ko-KR" sz="1100" b="0" dirty="0">
                <a:latin typeface="+mn-ea"/>
              </a:rPr>
              <a:t>.</a:t>
            </a:r>
            <a:endParaRPr lang="en-US" altLang="ko-KR" sz="1100" b="0" dirty="0">
              <a:highlight>
                <a:srgbClr val="FFFFFF"/>
              </a:highlight>
              <a:latin typeface="+mn-ea"/>
            </a:endParaRPr>
          </a:p>
          <a:p>
            <a:pPr marL="72000"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F66995D-79A7-0E5D-FA29-8864162FA6F2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C64DFF-D97A-5065-FC1B-780F3963982A}"/>
              </a:ext>
            </a:extLst>
          </p:cNvPr>
          <p:cNvSpPr txBox="1"/>
          <p:nvPr/>
        </p:nvSpPr>
        <p:spPr>
          <a:xfrm>
            <a:off x="4048162" y="3648457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E97260-7162-76D4-F5B5-4063233DE018}"/>
              </a:ext>
            </a:extLst>
          </p:cNvPr>
          <p:cNvSpPr txBox="1"/>
          <p:nvPr/>
        </p:nvSpPr>
        <p:spPr>
          <a:xfrm>
            <a:off x="4468371" y="3648457"/>
            <a:ext cx="37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973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F4DA-83F5-AAE6-F0CD-41812BED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933B7E-5211-B6C3-2390-1D101115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2" y="1355235"/>
            <a:ext cx="9219991" cy="4405588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2BA8999-C1EF-2423-1525-04657BBAB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683950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46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SCR_LF_MGT_10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개발모드 → 운영모드 이관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A32533-0DC4-6BE8-0DB7-DB3AB02B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12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54866EF0-EDE3-3C69-11D5-17B5859B002B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11898606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DFC4B-DE5D-E75E-EC5D-005B8CADC0A3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50F8792-B892-5CDA-0738-69C1FF6E70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093B52FF-9341-02C8-DED9-37DAC173273A}"/>
              </a:ext>
            </a:extLst>
          </p:cNvPr>
          <p:cNvSpPr txBox="1">
            <a:spLocks/>
          </p:cNvSpPr>
          <p:nvPr/>
        </p:nvSpPr>
        <p:spPr>
          <a:xfrm>
            <a:off x="9370242" y="1062242"/>
            <a:ext cx="2653880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latin typeface="+mn-ea"/>
              </a:rPr>
              <a:t>①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[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이관 실행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]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버튼을 누르면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개발모드로 이관된다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 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이관된 개발모드 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Flow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는 텍스트가 검정색으로 변경되며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sz="1100" b="0" dirty="0" err="1">
                <a:highlight>
                  <a:srgbClr val="FFFFFF"/>
                </a:highlight>
                <a:latin typeface="+mn-ea"/>
              </a:rPr>
              <a:t>운영중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sz="1100" b="0" dirty="0" err="1">
                <a:highlight>
                  <a:srgbClr val="FFFFFF"/>
                </a:highlight>
                <a:latin typeface="+mn-ea"/>
              </a:rPr>
              <a:t>뱃지가</a:t>
            </a:r>
            <a:r>
              <a:rPr lang="ko-KR" altLang="en-US" sz="1100" b="0" dirty="0">
                <a:highlight>
                  <a:srgbClr val="FFFFFF"/>
                </a:highlight>
                <a:latin typeface="+mn-ea"/>
              </a:rPr>
              <a:t> 제거된다</a:t>
            </a:r>
            <a:r>
              <a:rPr lang="en-US" altLang="ko-KR" sz="1100" b="0" dirty="0">
                <a:highlight>
                  <a:srgbClr val="FFFFFF"/>
                </a:highlight>
                <a:latin typeface="+mn-ea"/>
              </a:rPr>
              <a:t>.</a:t>
            </a:r>
          </a:p>
          <a:p>
            <a:pPr marL="72000">
              <a:lnSpc>
                <a:spcPct val="150000"/>
              </a:lnSpc>
            </a:pPr>
            <a:endParaRPr lang="en-US" altLang="ko-KR" sz="1100" b="0" dirty="0">
              <a:solidFill>
                <a:schemeClr val="tx1"/>
              </a:solidFill>
              <a:highlight>
                <a:srgbClr val="FFFFFF"/>
              </a:highlight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EE31F32-46F3-5A8F-CEC6-A319D964F0FC}"/>
              </a:ext>
            </a:extLst>
          </p:cNvPr>
          <p:cNvSpPr/>
          <p:nvPr/>
        </p:nvSpPr>
        <p:spPr>
          <a:xfrm>
            <a:off x="9370243" y="792447"/>
            <a:ext cx="2666248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703D4C-4356-36F7-2010-3A90B0FC1E82}"/>
              </a:ext>
            </a:extLst>
          </p:cNvPr>
          <p:cNvSpPr txBox="1"/>
          <p:nvPr/>
        </p:nvSpPr>
        <p:spPr>
          <a:xfrm>
            <a:off x="5072138" y="3538191"/>
            <a:ext cx="346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1987D0-9393-0189-A76B-546E3698B5E5}"/>
              </a:ext>
            </a:extLst>
          </p:cNvPr>
          <p:cNvSpPr/>
          <p:nvPr/>
        </p:nvSpPr>
        <p:spPr>
          <a:xfrm>
            <a:off x="1601708" y="4660444"/>
            <a:ext cx="7633731" cy="29560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7950D2-7115-4CC1-3541-E3CB914171A8}"/>
              </a:ext>
            </a:extLst>
          </p:cNvPr>
          <p:cNvSpPr/>
          <p:nvPr/>
        </p:nvSpPr>
        <p:spPr>
          <a:xfrm>
            <a:off x="1601708" y="2317199"/>
            <a:ext cx="7633731" cy="29560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B6197F3-8521-2BD2-D55A-60FB1B6318E2}"/>
              </a:ext>
            </a:extLst>
          </p:cNvPr>
          <p:cNvCxnSpPr>
            <a:cxnSpLocks/>
            <a:stCxn id="25" idx="0"/>
            <a:endCxn id="8" idx="2"/>
          </p:cNvCxnSpPr>
          <p:nvPr/>
        </p:nvCxnSpPr>
        <p:spPr>
          <a:xfrm flipV="1">
            <a:off x="5418574" y="2612803"/>
            <a:ext cx="0" cy="2047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A7DEF6-46AC-7134-EDB6-E5CFED85C34B}"/>
              </a:ext>
            </a:extLst>
          </p:cNvPr>
          <p:cNvSpPr/>
          <p:nvPr/>
        </p:nvSpPr>
        <p:spPr>
          <a:xfrm>
            <a:off x="3882967" y="5289914"/>
            <a:ext cx="1694873" cy="29560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59F86D-21FC-93EB-0643-5AE3A7EA932E}"/>
              </a:ext>
            </a:extLst>
          </p:cNvPr>
          <p:cNvSpPr txBox="1"/>
          <p:nvPr/>
        </p:nvSpPr>
        <p:spPr>
          <a:xfrm>
            <a:off x="3508251" y="5062913"/>
            <a:ext cx="374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079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25B0-E811-04A4-4F69-1CFC84CC9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2D51DA-F6BB-2F58-7166-10A9371B0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" y="1329428"/>
            <a:ext cx="9223543" cy="4385751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894C03-B4E6-5CE3-BF32-876EDA8AB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622901"/>
              </p:ext>
            </p:extLst>
          </p:nvPr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SCR_LF_MGT_11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Flow </a:t>
                      </a:r>
                      <a:r>
                        <a:rPr lang="ko-KR" altLang="en-US" sz="1100" dirty="0"/>
                        <a:t>갱신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0B4121-25A8-6997-EE27-1E29EA7D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13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B603EDA-A200-1448-F2EE-B82F0E967CC9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9223544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05A9748D-950C-DB00-B021-DF2B93460041}"/>
              </a:ext>
            </a:extLst>
          </p:cNvPr>
          <p:cNvSpPr txBox="1">
            <a:spLocks/>
          </p:cNvSpPr>
          <p:nvPr/>
        </p:nvSpPr>
        <p:spPr>
          <a:xfrm>
            <a:off x="9361427" y="1091685"/>
            <a:ext cx="2675063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+mn-ea"/>
              </a:rPr>
              <a:t>①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새로고침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버튼 </a:t>
            </a:r>
            <a:r>
              <a:rPr lang="en-US" altLang="ko-KR" sz="1100" b="0" dirty="0">
                <a:solidFill>
                  <a:schemeClr val="tx1"/>
                </a:solidFill>
                <a:latin typeface="+mn-ea"/>
              </a:rPr>
              <a:t>– </a:t>
            </a:r>
            <a:r>
              <a:rPr lang="ko-KR" altLang="en-US" sz="1100" b="0" dirty="0"/>
              <a:t>현재 화면의 목록이 갱신</a:t>
            </a:r>
            <a:r>
              <a:rPr lang="en-US" altLang="ko-KR" sz="1100" b="0" dirty="0"/>
              <a:t>(</a:t>
            </a:r>
            <a:r>
              <a:rPr lang="ko-KR" altLang="en-US" sz="1100" b="0" dirty="0" err="1"/>
              <a:t>새로고침</a:t>
            </a:r>
            <a:r>
              <a:rPr lang="en-US" altLang="ko-KR" sz="1100" b="0" dirty="0"/>
              <a:t>)</a:t>
            </a:r>
            <a:r>
              <a:rPr lang="ko-KR" altLang="en-US" sz="1100" b="0" dirty="0"/>
              <a:t>된다</a:t>
            </a:r>
            <a:r>
              <a:rPr lang="en-US" altLang="ko-KR" sz="1100" b="0" dirty="0"/>
              <a:t>.</a:t>
            </a:r>
            <a:endParaRPr lang="en-US" altLang="ko-KR" sz="11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A9F8D5-830A-AC63-0D9B-0E36A54A63BE}"/>
              </a:ext>
            </a:extLst>
          </p:cNvPr>
          <p:cNvSpPr/>
          <p:nvPr/>
        </p:nvSpPr>
        <p:spPr>
          <a:xfrm>
            <a:off x="9361429" y="792447"/>
            <a:ext cx="2675062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41AAA3-DF61-52C7-3FE8-417FCAA1D615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5C3A186-9B15-E61A-767E-1BE7D10133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7A661A-8995-07A3-D7EB-50B3B404DC4C}"/>
              </a:ext>
            </a:extLst>
          </p:cNvPr>
          <p:cNvSpPr txBox="1"/>
          <p:nvPr/>
        </p:nvSpPr>
        <p:spPr>
          <a:xfrm>
            <a:off x="8391520" y="1216652"/>
            <a:ext cx="400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978C61-1212-C229-AC58-FC8D29B8E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854" y="1842539"/>
            <a:ext cx="690691" cy="1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62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7D1F-9C42-6AAC-9677-5439C7DA4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0C10F5-39E2-E5C5-D029-12AE36B8E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" y="1329428"/>
            <a:ext cx="9223543" cy="4385751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9D983EA-11CF-9CC2-5E98-713297B6874B}"/>
              </a:ext>
            </a:extLst>
          </p:cNvPr>
          <p:cNvGraphicFramePr>
            <a:graphicFrameLocks noGrp="1"/>
          </p:cNvGraphicFramePr>
          <p:nvPr/>
        </p:nvGraphicFramePr>
        <p:xfrm>
          <a:off x="137884" y="243807"/>
          <a:ext cx="11898607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462">
                  <a:extLst>
                    <a:ext uri="{9D8B030D-6E8A-4147-A177-3AD203B41FA5}">
                      <a16:colId xmlns:a16="http://schemas.microsoft.com/office/drawing/2014/main" val="2525597999"/>
                    </a:ext>
                  </a:extLst>
                </a:gridCol>
                <a:gridCol w="4820014">
                  <a:extLst>
                    <a:ext uri="{9D8B030D-6E8A-4147-A177-3AD203B41FA5}">
                      <a16:colId xmlns:a16="http://schemas.microsoft.com/office/drawing/2014/main" val="2239587019"/>
                    </a:ext>
                  </a:extLst>
                </a:gridCol>
                <a:gridCol w="1100993">
                  <a:extLst>
                    <a:ext uri="{9D8B030D-6E8A-4147-A177-3AD203B41FA5}">
                      <a16:colId xmlns:a16="http://schemas.microsoft.com/office/drawing/2014/main" val="669530960"/>
                    </a:ext>
                  </a:extLst>
                </a:gridCol>
                <a:gridCol w="4822138">
                  <a:extLst>
                    <a:ext uri="{9D8B030D-6E8A-4147-A177-3AD203B41FA5}">
                      <a16:colId xmlns:a16="http://schemas.microsoft.com/office/drawing/2014/main" val="232113509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화면 </a:t>
                      </a:r>
                      <a:r>
                        <a:rPr lang="en-US" altLang="ko-KR" sz="1100" b="1" dirty="0"/>
                        <a:t>ID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SCR_LF_MGT_11</a:t>
                      </a:r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화면명</a:t>
                      </a:r>
                      <a:endParaRPr lang="ko-KR" altLang="en-US" sz="11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System Flow </a:t>
                      </a:r>
                      <a:r>
                        <a:rPr lang="ko-KR" altLang="en-US" sz="1100" dirty="0"/>
                        <a:t>관리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1416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개요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Flow </a:t>
                      </a:r>
                      <a:r>
                        <a:rPr lang="ko-KR" altLang="en-US" sz="1100" dirty="0"/>
                        <a:t>갱신 화면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2147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BDF85A-2075-008D-A866-4F5B9169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4483" y="6440908"/>
            <a:ext cx="505408" cy="365125"/>
          </a:xfrm>
        </p:spPr>
        <p:txBody>
          <a:bodyPr/>
          <a:lstStyle/>
          <a:p>
            <a:fld id="{57CF69E7-6384-4859-A7E2-88AD47520158}" type="slidenum">
              <a:rPr lang="ko-KR" altLang="en-US" smtClean="0">
                <a:solidFill>
                  <a:schemeClr val="tx1"/>
                </a:solidFill>
              </a:rPr>
              <a:t>14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5C43254C-2EA4-19B8-DF17-3BAAA138932E}"/>
              </a:ext>
            </a:extLst>
          </p:cNvPr>
          <p:cNvSpPr txBox="1">
            <a:spLocks/>
          </p:cNvSpPr>
          <p:nvPr/>
        </p:nvSpPr>
        <p:spPr>
          <a:xfrm>
            <a:off x="137884" y="792448"/>
            <a:ext cx="9223544" cy="5508244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100" b="0" dirty="0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4E67F0FF-B88C-6A12-CF28-987E24F900F6}"/>
              </a:ext>
            </a:extLst>
          </p:cNvPr>
          <p:cNvSpPr txBox="1">
            <a:spLocks/>
          </p:cNvSpPr>
          <p:nvPr/>
        </p:nvSpPr>
        <p:spPr>
          <a:xfrm>
            <a:off x="9361427" y="1091685"/>
            <a:ext cx="2675063" cy="5209007"/>
          </a:xfrm>
          <a:prstGeom prst="rec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150000"/>
              </a:lnSpc>
            </a:pPr>
            <a:endParaRPr lang="en-US" altLang="ko-KR" sz="1100" b="0" dirty="0">
              <a:latin typeface="+mn-ea"/>
            </a:endParaRPr>
          </a:p>
          <a:p>
            <a:pPr marL="72000">
              <a:lnSpc>
                <a:spcPct val="150000"/>
              </a:lnSpc>
            </a:pPr>
            <a:r>
              <a:rPr lang="ko-KR" altLang="en-US" sz="1100" b="0" dirty="0">
                <a:solidFill>
                  <a:schemeClr val="tx1"/>
                </a:solidFill>
                <a:latin typeface="+mn-ea"/>
              </a:rPr>
              <a:t>①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새로고침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버튼 </a:t>
            </a:r>
            <a:r>
              <a:rPr lang="en-US" altLang="ko-KR" sz="1100" b="0" dirty="0">
                <a:solidFill>
                  <a:schemeClr val="tx1"/>
                </a:solidFill>
                <a:latin typeface="+mn-ea"/>
              </a:rPr>
              <a:t>– </a:t>
            </a:r>
            <a:r>
              <a:rPr lang="ko-KR" altLang="en-US" sz="1100" b="0" dirty="0"/>
              <a:t>현재 화면의 목록이 갱신</a:t>
            </a:r>
            <a:r>
              <a:rPr lang="en-US" altLang="ko-KR" sz="1100" b="0" dirty="0"/>
              <a:t>(</a:t>
            </a:r>
            <a:r>
              <a:rPr lang="ko-KR" altLang="en-US" sz="1100" b="0" dirty="0" err="1"/>
              <a:t>새로고침</a:t>
            </a:r>
            <a:r>
              <a:rPr lang="en-US" altLang="ko-KR" sz="1100" b="0" dirty="0"/>
              <a:t>)</a:t>
            </a:r>
            <a:r>
              <a:rPr lang="ko-KR" altLang="en-US" sz="1100" b="0" dirty="0"/>
              <a:t>된다</a:t>
            </a:r>
            <a:r>
              <a:rPr lang="en-US" altLang="ko-KR" sz="1100" b="0" dirty="0"/>
              <a:t>.</a:t>
            </a:r>
            <a:endParaRPr lang="en-US" altLang="ko-KR" sz="11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37EEB8-FF4D-65F2-8B51-6767FC5BD199}"/>
              </a:ext>
            </a:extLst>
          </p:cNvPr>
          <p:cNvSpPr/>
          <p:nvPr/>
        </p:nvSpPr>
        <p:spPr>
          <a:xfrm>
            <a:off x="9361429" y="792447"/>
            <a:ext cx="2675062" cy="29923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화면 설명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9AC8BC-8864-43AC-6CD9-043AB9CA03FC}"/>
              </a:ext>
            </a:extLst>
          </p:cNvPr>
          <p:cNvSpPr txBox="1"/>
          <p:nvPr/>
        </p:nvSpPr>
        <p:spPr>
          <a:xfrm>
            <a:off x="11040705" y="5868217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→이어서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3479F6D-1BB2-E69E-97D8-F7BB11CAD4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/>
          <a:stretch/>
        </p:blipFill>
        <p:spPr>
          <a:xfrm>
            <a:off x="10996906" y="6363478"/>
            <a:ext cx="1039584" cy="3176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99B55A-EA60-5911-20B0-6B835EA6952B}"/>
              </a:ext>
            </a:extLst>
          </p:cNvPr>
          <p:cNvSpPr txBox="1"/>
          <p:nvPr/>
        </p:nvSpPr>
        <p:spPr>
          <a:xfrm>
            <a:off x="8391520" y="1216652"/>
            <a:ext cx="400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solidFill>
                  <a:srgbClr val="FF0000"/>
                </a:solidFill>
                <a:latin typeface="+mn-ea"/>
              </a:rPr>
              <a:t>①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B882FF-7F4D-CD53-1646-84567C2F0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854" y="1842539"/>
            <a:ext cx="690691" cy="1070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63602D6-7C2B-5138-967A-1B2E5D8CF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0104" y="-43141"/>
            <a:ext cx="12363992" cy="694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52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4765</TotalTime>
  <Words>774</Words>
  <Application>Microsoft Office PowerPoint</Application>
  <PresentationFormat>와이드스크린</PresentationFormat>
  <Paragraphs>202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UI정의서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LeeSeola</dc:creator>
  <cp:lastModifiedBy>서은 이</cp:lastModifiedBy>
  <cp:revision>126</cp:revision>
  <dcterms:created xsi:type="dcterms:W3CDTF">2023-04-04T05:03:55Z</dcterms:created>
  <dcterms:modified xsi:type="dcterms:W3CDTF">2026-02-25T05:03:52Z</dcterms:modified>
</cp:coreProperties>
</file>